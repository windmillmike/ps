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3E80D0-1C57-4A42-AC66-19AF94B4A181}" v="667" dt="2026-02-03T12:47:49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9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0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8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088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21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455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40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386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682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706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2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696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3400" y="908651"/>
            <a:ext cx="4937004" cy="4058682"/>
          </a:xfrm>
        </p:spPr>
        <p:txBody>
          <a:bodyPr anchor="t">
            <a:normAutofit/>
          </a:bodyPr>
          <a:lstStyle/>
          <a:p>
            <a:r>
              <a:rPr lang="en-GB" sz="6500">
                <a:ea typeface="+mj-lt"/>
                <a:cs typeface="+mj-lt"/>
              </a:rPr>
              <a:t>Sistem de Control prin Gesturi</a:t>
            </a:r>
            <a:endParaRPr lang="en-US" sz="65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3400" y="5103862"/>
            <a:ext cx="4172757" cy="8454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Autor: Botea </a:t>
            </a:r>
            <a:r>
              <a:rPr lang="en-GB" dirty="0" err="1"/>
              <a:t>Maryo</a:t>
            </a:r>
            <a:r>
              <a:rPr lang="en-GB" dirty="0"/>
              <a:t>-Alexandru</a:t>
            </a:r>
            <a:endParaRPr lang="en-GB"/>
          </a:p>
          <a:p>
            <a:pPr>
              <a:lnSpc>
                <a:spcPct val="100000"/>
              </a:lnSpc>
            </a:pPr>
            <a:r>
              <a:rPr lang="en-GB" dirty="0" err="1"/>
              <a:t>Limbaj</a:t>
            </a:r>
            <a:r>
              <a:rPr lang="en-GB" dirty="0"/>
              <a:t>: Python</a:t>
            </a:r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E96B1415-4A1B-C886-3DF7-CD5AFE1D01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478" b="11"/>
          <a:stretch>
            <a:fillRect/>
          </a:stretch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385216-CF12-28BE-2548-5FF1EF2B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1705460"/>
            <a:ext cx="4265763" cy="1593185"/>
          </a:xfrm>
        </p:spPr>
        <p:txBody>
          <a:bodyPr anchor="t">
            <a:normAutofit/>
          </a:bodyPr>
          <a:lstStyle/>
          <a:p>
            <a:br>
              <a:rPr lang="en-GB" sz="4200" dirty="0"/>
            </a:br>
            <a:r>
              <a:rPr lang="en-GB" sz="4200" dirty="0" err="1"/>
              <a:t>Nasterea</a:t>
            </a:r>
            <a:r>
              <a:rPr lang="en-GB" sz="4200" dirty="0"/>
              <a:t> </a:t>
            </a:r>
            <a:r>
              <a:rPr lang="en-GB" sz="4200" dirty="0" err="1"/>
              <a:t>ideii</a:t>
            </a:r>
            <a:endParaRPr lang="en-GB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68B5E-E1AE-738E-CF17-2A6DE2C19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1796458"/>
            <a:ext cx="5483190" cy="445745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700" dirty="0" err="1"/>
              <a:t>Încercarea</a:t>
            </a:r>
            <a:r>
              <a:rPr lang="en-GB" sz="1700" dirty="0"/>
              <a:t> </a:t>
            </a:r>
            <a:r>
              <a:rPr lang="en-GB" sz="1700" dirty="0" err="1"/>
              <a:t>eșuată</a:t>
            </a:r>
            <a:r>
              <a:rPr lang="en-GB" sz="1700" dirty="0"/>
              <a:t> de a </a:t>
            </a:r>
            <a:r>
              <a:rPr lang="en-GB" sz="1700" dirty="0" err="1"/>
              <a:t>crea</a:t>
            </a:r>
            <a:r>
              <a:rPr lang="en-GB" sz="1700" dirty="0"/>
              <a:t> un AOD (Abandoned Object Detection) System.</a:t>
            </a:r>
          </a:p>
          <a:p>
            <a:pPr>
              <a:lnSpc>
                <a:spcPct val="100000"/>
              </a:lnSpc>
            </a:pPr>
            <a:r>
              <a:rPr lang="en-GB" sz="1700" dirty="0"/>
              <a:t>Timp </a:t>
            </a:r>
            <a:r>
              <a:rPr lang="en-GB" sz="1700" dirty="0" err="1"/>
              <a:t>mult</a:t>
            </a:r>
            <a:r>
              <a:rPr lang="en-GB" sz="1700" dirty="0"/>
              <a:t> </a:t>
            </a:r>
            <a:r>
              <a:rPr lang="en-GB" sz="1700" dirty="0" err="1"/>
              <a:t>pierdut</a:t>
            </a:r>
            <a:r>
              <a:rPr lang="en-GB" sz="1700" dirty="0"/>
              <a:t> pe </a:t>
            </a:r>
            <a:r>
              <a:rPr lang="en-GB" sz="1700" dirty="0" err="1"/>
              <a:t>încercarea</a:t>
            </a:r>
            <a:r>
              <a:rPr lang="en-GB" sz="1700" dirty="0"/>
              <a:t> </a:t>
            </a:r>
            <a:r>
              <a:rPr lang="en-GB" sz="1700" dirty="0" err="1"/>
              <a:t>unei</a:t>
            </a:r>
            <a:r>
              <a:rPr lang="en-GB" sz="1700" dirty="0"/>
              <a:t> </a:t>
            </a:r>
            <a:r>
              <a:rPr lang="en-GB" sz="1700" dirty="0" err="1"/>
              <a:t>implementări</a:t>
            </a:r>
            <a:r>
              <a:rPr lang="en-GB" sz="1700" dirty="0"/>
              <a:t> </a:t>
            </a:r>
            <a:r>
              <a:rPr lang="en-GB" sz="1700" dirty="0" err="1"/>
              <a:t>și</a:t>
            </a:r>
            <a:r>
              <a:rPr lang="en-GB" sz="1700" dirty="0"/>
              <a:t> </a:t>
            </a:r>
            <a:r>
              <a:rPr lang="en-GB" sz="1700" dirty="0" err="1"/>
              <a:t>experimentarea</a:t>
            </a:r>
            <a:r>
              <a:rPr lang="en-GB" sz="1700" dirty="0"/>
              <a:t> cu YoloV8</a:t>
            </a:r>
          </a:p>
          <a:p>
            <a:pPr>
              <a:lnSpc>
                <a:spcPct val="100000"/>
              </a:lnSpc>
            </a:pPr>
            <a:r>
              <a:rPr lang="en-GB" sz="1700" dirty="0" err="1"/>
              <a:t>Documentarea</a:t>
            </a:r>
            <a:r>
              <a:rPr lang="en-GB" sz="1700" dirty="0"/>
              <a:t> </a:t>
            </a:r>
            <a:r>
              <a:rPr lang="en-GB" sz="1700" dirty="0" err="1"/>
              <a:t>continuă</a:t>
            </a:r>
            <a:r>
              <a:rPr lang="en-GB" sz="1700" dirty="0"/>
              <a:t> din </a:t>
            </a:r>
            <a:r>
              <a:rPr lang="en-GB" sz="1700" dirty="0" err="1"/>
              <a:t>videoclipuri</a:t>
            </a:r>
            <a:r>
              <a:rPr lang="en-GB" sz="1700" dirty="0"/>
              <a:t> </a:t>
            </a:r>
            <a:r>
              <a:rPr lang="en-GB" sz="1700" dirty="0" err="1"/>
              <a:t>si</a:t>
            </a:r>
            <a:r>
              <a:rPr lang="en-GB" sz="1700" dirty="0"/>
              <a:t> a brain storming-</a:t>
            </a:r>
            <a:r>
              <a:rPr lang="en-GB" sz="1700" dirty="0" err="1"/>
              <a:t>ului</a:t>
            </a:r>
            <a:r>
              <a:rPr lang="en-GB" sz="1700" dirty="0"/>
              <a:t> </a:t>
            </a:r>
            <a:r>
              <a:rPr lang="en-GB" sz="1700" dirty="0" err="1"/>
              <a:t>despre</a:t>
            </a:r>
            <a:r>
              <a:rPr lang="en-GB" sz="1700" dirty="0"/>
              <a:t> AOD-</a:t>
            </a:r>
            <a:r>
              <a:rPr lang="en-GB" sz="1700" dirty="0" err="1"/>
              <a:t>uri</a:t>
            </a:r>
            <a:endParaRPr lang="en-GB" sz="1700" dirty="0"/>
          </a:p>
          <a:p>
            <a:pPr>
              <a:lnSpc>
                <a:spcPct val="100000"/>
              </a:lnSpc>
            </a:pPr>
            <a:r>
              <a:rPr lang="en-GB" sz="1700" err="1"/>
              <a:t>După</a:t>
            </a:r>
            <a:r>
              <a:rPr lang="en-GB" sz="1700" dirty="0"/>
              <a:t> </a:t>
            </a:r>
            <a:r>
              <a:rPr lang="en-GB" sz="1700" err="1"/>
              <a:t>generarea</a:t>
            </a:r>
            <a:r>
              <a:rPr lang="en-GB" sz="1700" dirty="0"/>
              <a:t> a </a:t>
            </a:r>
            <a:r>
              <a:rPr lang="en-GB" sz="1700" err="1"/>
              <a:t>foarte</a:t>
            </a:r>
            <a:r>
              <a:rPr lang="en-GB" sz="1700" dirty="0"/>
              <a:t> </a:t>
            </a:r>
            <a:r>
              <a:rPr lang="en-GB" sz="1700" err="1"/>
              <a:t>multe</a:t>
            </a:r>
            <a:r>
              <a:rPr lang="en-GB" sz="1700" dirty="0"/>
              <a:t> </a:t>
            </a:r>
            <a:r>
              <a:rPr lang="en-GB" sz="1700" err="1"/>
              <a:t>idei</a:t>
            </a:r>
            <a:r>
              <a:rPr lang="en-GB" sz="1700" dirty="0"/>
              <a:t> la care nu am </a:t>
            </a:r>
            <a:r>
              <a:rPr lang="en-GB" sz="1700" err="1"/>
              <a:t>reușit</a:t>
            </a:r>
            <a:r>
              <a:rPr lang="en-GB" sz="1700" dirty="0"/>
              <a:t> </a:t>
            </a:r>
            <a:r>
              <a:rPr lang="en-GB" sz="1700" err="1"/>
              <a:t>să</a:t>
            </a:r>
            <a:r>
              <a:rPr lang="en-GB" sz="1700" dirty="0"/>
              <a:t> </a:t>
            </a:r>
            <a:r>
              <a:rPr lang="en-GB" sz="1700" err="1"/>
              <a:t>găsesc</a:t>
            </a:r>
            <a:r>
              <a:rPr lang="en-GB" sz="1700" dirty="0"/>
              <a:t> un </a:t>
            </a:r>
            <a:r>
              <a:rPr lang="en-GB" sz="1700" err="1"/>
              <a:t>răspuns</a:t>
            </a:r>
            <a:r>
              <a:rPr lang="en-GB" sz="1700" dirty="0"/>
              <a:t> </a:t>
            </a:r>
            <a:r>
              <a:rPr lang="en-GB" sz="1700" err="1"/>
              <a:t>implementabil</a:t>
            </a:r>
            <a:r>
              <a:rPr lang="en-GB" sz="1700" dirty="0"/>
              <a:t> </a:t>
            </a:r>
            <a:r>
              <a:rPr lang="en-GB" sz="1700" err="1"/>
              <a:t>combinat</a:t>
            </a:r>
            <a:r>
              <a:rPr lang="en-GB" sz="1700" dirty="0"/>
              <a:t> cu </a:t>
            </a:r>
            <a:r>
              <a:rPr lang="en-GB" sz="1700" err="1"/>
              <a:t>identificarea</a:t>
            </a:r>
            <a:r>
              <a:rPr lang="en-GB" sz="1700" dirty="0"/>
              <a:t> </a:t>
            </a:r>
            <a:r>
              <a:rPr lang="en-GB" sz="1700" err="1"/>
              <a:t>eronată</a:t>
            </a:r>
            <a:r>
              <a:rPr lang="en-GB" sz="1700" dirty="0"/>
              <a:t> de </a:t>
            </a:r>
            <a:r>
              <a:rPr lang="en-GB" sz="1700" err="1"/>
              <a:t>obiecte</a:t>
            </a:r>
            <a:r>
              <a:rPr lang="en-GB" sz="1700" dirty="0"/>
              <a:t> a YoloV8-ului am </a:t>
            </a:r>
            <a:r>
              <a:rPr lang="en-GB" sz="1700" err="1"/>
              <a:t>renunțat</a:t>
            </a:r>
            <a:endParaRPr lang="en-GB" sz="1700"/>
          </a:p>
          <a:p>
            <a:pPr>
              <a:lnSpc>
                <a:spcPct val="100000"/>
              </a:lnSpc>
            </a:pPr>
            <a:r>
              <a:rPr lang="en-GB" sz="1700" dirty="0"/>
              <a:t>Din </a:t>
            </a:r>
            <a:r>
              <a:rPr lang="en-GB" sz="1700" err="1"/>
              <a:t>dorința</a:t>
            </a:r>
            <a:r>
              <a:rPr lang="en-GB" sz="1700" dirty="0"/>
              <a:t> de a </a:t>
            </a:r>
            <a:r>
              <a:rPr lang="en-GB" sz="1700" err="1"/>
              <a:t>imita</a:t>
            </a:r>
            <a:r>
              <a:rPr lang="en-GB" sz="1700" dirty="0"/>
              <a:t> un </a:t>
            </a:r>
            <a:r>
              <a:rPr lang="en-GB" sz="1700" dirty="0">
                <a:latin typeface="Calisto MT"/>
                <a:cs typeface="Arial"/>
              </a:rPr>
              <a:t>„AI” </a:t>
            </a:r>
            <a:r>
              <a:rPr lang="en-GB" sz="1700" err="1">
                <a:latin typeface="Calisto MT"/>
                <a:cs typeface="Arial"/>
              </a:rPr>
              <a:t>dar</a:t>
            </a:r>
            <a:r>
              <a:rPr lang="en-GB" sz="1700" dirty="0">
                <a:latin typeface="Calisto MT"/>
                <a:cs typeface="Arial"/>
              </a:rPr>
              <a:t> </a:t>
            </a:r>
            <a:r>
              <a:rPr lang="en-GB" sz="1700" err="1">
                <a:latin typeface="Calisto MT"/>
                <a:cs typeface="Arial"/>
              </a:rPr>
              <a:t>fără</a:t>
            </a:r>
            <a:r>
              <a:rPr lang="en-GB" sz="1700" dirty="0">
                <a:latin typeface="Calisto MT"/>
                <a:cs typeface="Arial"/>
              </a:rPr>
              <a:t> </a:t>
            </a:r>
            <a:r>
              <a:rPr lang="en-GB" sz="1700" err="1">
                <a:latin typeface="Calisto MT"/>
                <a:cs typeface="Arial"/>
              </a:rPr>
              <a:t>să</a:t>
            </a:r>
            <a:r>
              <a:rPr lang="en-GB" sz="1700" dirty="0">
                <a:latin typeface="Calisto MT"/>
                <a:cs typeface="Arial"/>
              </a:rPr>
              <a:t> </a:t>
            </a:r>
            <a:r>
              <a:rPr lang="en-GB" sz="1700" err="1">
                <a:latin typeface="Calisto MT"/>
                <a:cs typeface="Arial"/>
              </a:rPr>
              <a:t>trebuiască</a:t>
            </a:r>
            <a:r>
              <a:rPr lang="en-GB" sz="1700" dirty="0">
                <a:latin typeface="Calisto MT"/>
                <a:cs typeface="Arial"/>
              </a:rPr>
              <a:t> </a:t>
            </a:r>
            <a:r>
              <a:rPr lang="en-GB" sz="1700" err="1">
                <a:latin typeface="Calisto MT"/>
                <a:cs typeface="Arial"/>
              </a:rPr>
              <a:t>să</a:t>
            </a:r>
            <a:r>
              <a:rPr lang="en-GB" sz="1700" dirty="0">
                <a:latin typeface="Calisto MT"/>
                <a:cs typeface="Arial"/>
              </a:rPr>
              <a:t> </a:t>
            </a:r>
            <a:r>
              <a:rPr lang="en-GB" sz="1700" err="1">
                <a:latin typeface="Calisto MT"/>
                <a:cs typeface="Arial"/>
              </a:rPr>
              <a:t>antrenez</a:t>
            </a:r>
            <a:r>
              <a:rPr lang="en-GB" sz="1700" dirty="0">
                <a:latin typeface="Calisto MT"/>
                <a:cs typeface="Arial"/>
              </a:rPr>
              <a:t> </a:t>
            </a:r>
            <a:r>
              <a:rPr lang="en-GB" sz="1700" err="1">
                <a:latin typeface="Calisto MT"/>
                <a:cs typeface="Arial"/>
              </a:rPr>
              <a:t>unul</a:t>
            </a:r>
            <a:r>
              <a:rPr lang="en-GB" sz="1700" dirty="0">
                <a:latin typeface="Calisto MT"/>
                <a:cs typeface="Arial"/>
              </a:rPr>
              <a:t> am </a:t>
            </a:r>
            <a:r>
              <a:rPr lang="en-GB" sz="1700" err="1">
                <a:latin typeface="Calisto MT"/>
                <a:cs typeface="Arial"/>
              </a:rPr>
              <a:t>decis</a:t>
            </a:r>
            <a:r>
              <a:rPr lang="en-GB" sz="1700" dirty="0">
                <a:latin typeface="Calisto MT"/>
                <a:cs typeface="Arial"/>
              </a:rPr>
              <a:t> </a:t>
            </a:r>
            <a:r>
              <a:rPr lang="en-GB" sz="1700" err="1">
                <a:latin typeface="Calisto MT"/>
                <a:cs typeface="Arial"/>
              </a:rPr>
              <a:t>să</a:t>
            </a:r>
            <a:r>
              <a:rPr lang="en-GB" sz="1700" dirty="0">
                <a:latin typeface="Calisto MT"/>
                <a:cs typeface="Arial"/>
              </a:rPr>
              <a:t> </a:t>
            </a:r>
            <a:r>
              <a:rPr lang="en-GB" sz="1700" err="1">
                <a:latin typeface="Calisto MT"/>
                <a:cs typeface="Arial"/>
              </a:rPr>
              <a:t>găsesc</a:t>
            </a:r>
            <a:r>
              <a:rPr lang="en-GB" sz="1700" dirty="0">
                <a:latin typeface="Calisto MT"/>
                <a:cs typeface="Arial"/>
              </a:rPr>
              <a:t> o </a:t>
            </a:r>
            <a:r>
              <a:rPr lang="en-GB" sz="1700" err="1">
                <a:latin typeface="Calisto MT"/>
                <a:cs typeface="Arial"/>
              </a:rPr>
              <a:t>soluție</a:t>
            </a:r>
            <a:r>
              <a:rPr lang="en-GB" sz="1700" dirty="0">
                <a:latin typeface="Calisto MT"/>
                <a:cs typeface="Arial"/>
              </a:rPr>
              <a:t> </a:t>
            </a:r>
            <a:r>
              <a:rPr lang="en-GB" sz="1700" err="1">
                <a:latin typeface="Calisto MT"/>
                <a:cs typeface="Arial"/>
              </a:rPr>
              <a:t>diferită</a:t>
            </a:r>
            <a:r>
              <a:rPr lang="en-GB" sz="1700" dirty="0">
                <a:latin typeface="Calisto MT"/>
                <a:cs typeface="Arial"/>
              </a:rPr>
              <a:t> </a:t>
            </a:r>
            <a:r>
              <a:rPr lang="en-GB" sz="1700" err="1">
                <a:latin typeface="Calisto MT"/>
                <a:cs typeface="Arial"/>
              </a:rPr>
              <a:t>și</a:t>
            </a:r>
            <a:r>
              <a:rPr lang="en-GB" sz="1700" dirty="0">
                <a:latin typeface="Calisto MT"/>
                <a:cs typeface="Arial"/>
              </a:rPr>
              <a:t> care nu </a:t>
            </a:r>
            <a:r>
              <a:rPr lang="en-GB" sz="1700" err="1">
                <a:latin typeface="Calisto MT"/>
                <a:cs typeface="Arial"/>
              </a:rPr>
              <a:t>folosește</a:t>
            </a:r>
            <a:r>
              <a:rPr lang="en-GB" sz="1700" dirty="0">
                <a:latin typeface="Calisto MT"/>
                <a:cs typeface="Arial"/>
              </a:rPr>
              <a:t> o </a:t>
            </a:r>
            <a:r>
              <a:rPr lang="en-GB" sz="1700" err="1">
                <a:latin typeface="Calisto MT"/>
                <a:cs typeface="Arial"/>
              </a:rPr>
              <a:t>librărie</a:t>
            </a:r>
            <a:r>
              <a:rPr lang="en-GB" sz="1700" dirty="0">
                <a:latin typeface="Calisto MT"/>
                <a:cs typeface="Arial"/>
              </a:rPr>
              <a:t> </a:t>
            </a:r>
            <a:r>
              <a:rPr lang="en-GB" sz="1700" err="1">
                <a:latin typeface="Calisto MT"/>
                <a:cs typeface="Arial"/>
              </a:rPr>
              <a:t>deja</a:t>
            </a:r>
            <a:r>
              <a:rPr lang="en-GB" sz="1700" dirty="0">
                <a:latin typeface="Calisto MT"/>
                <a:cs typeface="Arial"/>
              </a:rPr>
              <a:t> </a:t>
            </a:r>
            <a:r>
              <a:rPr lang="en-GB" sz="1700" err="1">
                <a:latin typeface="Calisto MT"/>
                <a:cs typeface="Arial"/>
              </a:rPr>
              <a:t>existentă</a:t>
            </a:r>
            <a:r>
              <a:rPr lang="en-GB" sz="1700" dirty="0">
                <a:latin typeface="Calisto MT"/>
                <a:cs typeface="Arial"/>
              </a:rPr>
              <a:t> (</a:t>
            </a:r>
            <a:r>
              <a:rPr lang="en-GB" sz="1700" err="1">
                <a:latin typeface="Calisto MT"/>
                <a:cs typeface="Arial"/>
              </a:rPr>
              <a:t>MediaPIPE</a:t>
            </a:r>
            <a:r>
              <a:rPr lang="en-GB" sz="1700" dirty="0">
                <a:latin typeface="Calisto MT"/>
                <a:cs typeface="Arial"/>
              </a:rPr>
              <a:t>)</a:t>
            </a:r>
            <a:endParaRPr lang="en-GB" sz="1700" dirty="0">
              <a:latin typeface="Calisto MT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DB4BEA-22D1-9BE0-1F06-BAFE567B5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435170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789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F37D6-155C-5EB8-A9A1-A72E035D6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1705460"/>
            <a:ext cx="4265763" cy="159318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 dirty="0">
                <a:latin typeface="Calisto MT"/>
              </a:rPr>
              <a:t> </a:t>
            </a:r>
            <a:br>
              <a:rPr lang="en-GB" sz="3600" dirty="0">
                <a:latin typeface="Calisto MT"/>
              </a:rPr>
            </a:br>
            <a:r>
              <a:rPr lang="en-GB" sz="3600" err="1">
                <a:latin typeface="Univers Condensed"/>
              </a:rPr>
              <a:t>MotivaTia</a:t>
            </a:r>
            <a:r>
              <a:rPr lang="en-GB" sz="3600" dirty="0">
                <a:latin typeface="Univers Condensed"/>
              </a:rPr>
              <a:t> </a:t>
            </a:r>
            <a:r>
              <a:rPr lang="en-GB" sz="3600" err="1">
                <a:latin typeface="Univers Condensed"/>
              </a:rPr>
              <a:t>și</a:t>
            </a:r>
            <a:r>
              <a:rPr lang="en-GB" sz="3600" dirty="0">
                <a:latin typeface="Univers Condensed"/>
              </a:rPr>
              <a:t> </a:t>
            </a:r>
            <a:r>
              <a:rPr lang="en-GB" sz="3600" err="1">
                <a:latin typeface="Univers Condensed"/>
              </a:rPr>
              <a:t>Contextul</a:t>
            </a:r>
            <a:endParaRPr lang="en-US" sz="3600">
              <a:latin typeface="Univers Condense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DA8AE-81AC-D735-61FF-9C7DCDDB8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1796458"/>
            <a:ext cx="5483190" cy="44574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endParaRPr lang="en-GB" cap="all">
              <a:latin typeface="Calisto MT"/>
            </a:endParaRPr>
          </a:p>
          <a:p>
            <a:pPr>
              <a:spcBef>
                <a:spcPct val="0"/>
              </a:spcBef>
            </a:pPr>
            <a:r>
              <a:rPr lang="en-GB" b="1" dirty="0" err="1">
                <a:latin typeface="Calisto MT"/>
                <a:ea typeface="+mn-lt"/>
                <a:cs typeface="+mn-lt"/>
              </a:rPr>
              <a:t>Problema</a:t>
            </a:r>
            <a:r>
              <a:rPr lang="en-GB" b="1" dirty="0">
                <a:latin typeface="Calisto MT"/>
                <a:ea typeface="+mn-lt"/>
                <a:cs typeface="+mn-lt"/>
              </a:rPr>
              <a:t>:</a:t>
            </a:r>
            <a:r>
              <a:rPr lang="en-GB" dirty="0">
                <a:latin typeface="Calisto MT"/>
                <a:ea typeface="+mn-lt"/>
                <a:cs typeface="+mn-lt"/>
              </a:rPr>
              <a:t> </a:t>
            </a:r>
            <a:r>
              <a:rPr lang="en-GB" dirty="0" err="1">
                <a:latin typeface="Calisto MT"/>
                <a:ea typeface="+mn-lt"/>
                <a:cs typeface="+mn-lt"/>
              </a:rPr>
              <a:t>Întreruperea</a:t>
            </a:r>
            <a:r>
              <a:rPr lang="en-GB" dirty="0">
                <a:latin typeface="Calisto MT"/>
                <a:ea typeface="+mn-lt"/>
                <a:cs typeface="+mn-lt"/>
              </a:rPr>
              <a:t> </a:t>
            </a:r>
            <a:r>
              <a:rPr lang="en-GB" dirty="0" err="1">
                <a:latin typeface="Calisto MT"/>
                <a:ea typeface="+mn-lt"/>
                <a:cs typeface="+mn-lt"/>
              </a:rPr>
              <a:t>activității</a:t>
            </a:r>
            <a:r>
              <a:rPr lang="en-GB" dirty="0">
                <a:latin typeface="Calisto MT"/>
                <a:ea typeface="+mn-lt"/>
                <a:cs typeface="+mn-lt"/>
              </a:rPr>
              <a:t> </a:t>
            </a:r>
            <a:r>
              <a:rPr lang="en-GB" dirty="0" err="1">
                <a:latin typeface="Calisto MT"/>
                <a:ea typeface="+mn-lt"/>
                <a:cs typeface="+mn-lt"/>
              </a:rPr>
              <a:t>principale</a:t>
            </a:r>
            <a:r>
              <a:rPr lang="en-GB" dirty="0">
                <a:latin typeface="Calisto MT"/>
                <a:ea typeface="+mn-lt"/>
                <a:cs typeface="+mn-lt"/>
              </a:rPr>
              <a:t> (gaming/office) </a:t>
            </a:r>
            <a:r>
              <a:rPr lang="en-GB" dirty="0" err="1">
                <a:latin typeface="Calisto MT"/>
                <a:ea typeface="+mn-lt"/>
                <a:cs typeface="+mn-lt"/>
              </a:rPr>
              <a:t>pentru</a:t>
            </a:r>
            <a:r>
              <a:rPr lang="en-GB" dirty="0">
                <a:latin typeface="Calisto MT"/>
                <a:ea typeface="+mn-lt"/>
                <a:cs typeface="+mn-lt"/>
              </a:rPr>
              <a:t> </a:t>
            </a:r>
            <a:r>
              <a:rPr lang="en-GB" dirty="0" err="1">
                <a:latin typeface="Calisto MT"/>
                <a:ea typeface="+mn-lt"/>
                <a:cs typeface="+mn-lt"/>
              </a:rPr>
              <a:t>sarcini</a:t>
            </a:r>
            <a:r>
              <a:rPr lang="en-GB" dirty="0">
                <a:latin typeface="Calisto MT"/>
                <a:ea typeface="+mn-lt"/>
                <a:cs typeface="+mn-lt"/>
              </a:rPr>
              <a:t> </a:t>
            </a:r>
            <a:r>
              <a:rPr lang="en-GB" dirty="0" err="1">
                <a:latin typeface="Calisto MT"/>
                <a:ea typeface="+mn-lt"/>
                <a:cs typeface="+mn-lt"/>
              </a:rPr>
              <a:t>secundare</a:t>
            </a:r>
            <a:r>
              <a:rPr lang="en-GB" dirty="0">
                <a:latin typeface="Calisto MT"/>
                <a:ea typeface="+mn-lt"/>
                <a:cs typeface="+mn-lt"/>
              </a:rPr>
              <a:t>.</a:t>
            </a:r>
            <a:endParaRPr lang="en-GB" b="1" dirty="0">
              <a:latin typeface="Calisto MT"/>
              <a:ea typeface="+mn-lt"/>
              <a:cs typeface="+mn-lt"/>
            </a:endParaRPr>
          </a:p>
          <a:p>
            <a:pPr>
              <a:spcBef>
                <a:spcPct val="0"/>
              </a:spcBef>
            </a:pPr>
            <a:r>
              <a:rPr lang="en-GB" b="1" dirty="0" err="1">
                <a:latin typeface="Calisto MT"/>
                <a:ea typeface="+mn-lt"/>
                <a:cs typeface="+mn-lt"/>
              </a:rPr>
              <a:t>Soluția</a:t>
            </a:r>
            <a:r>
              <a:rPr lang="en-GB" b="1" dirty="0">
                <a:latin typeface="Calisto MT"/>
                <a:ea typeface="+mn-lt"/>
                <a:cs typeface="+mn-lt"/>
              </a:rPr>
              <a:t>:</a:t>
            </a:r>
            <a:r>
              <a:rPr lang="en-GB" dirty="0">
                <a:latin typeface="Calisto MT"/>
                <a:ea typeface="+mn-lt"/>
                <a:cs typeface="+mn-lt"/>
              </a:rPr>
              <a:t> </a:t>
            </a:r>
            <a:r>
              <a:rPr lang="en-GB" dirty="0" err="1">
                <a:latin typeface="Calisto MT"/>
                <a:ea typeface="+mn-lt"/>
                <a:cs typeface="+mn-lt"/>
              </a:rPr>
              <a:t>Transformarea</a:t>
            </a:r>
            <a:r>
              <a:rPr lang="en-GB" dirty="0">
                <a:latin typeface="Calisto MT"/>
                <a:ea typeface="+mn-lt"/>
                <a:cs typeface="+mn-lt"/>
              </a:rPr>
              <a:t> </a:t>
            </a:r>
            <a:r>
              <a:rPr lang="en-GB" dirty="0" err="1">
                <a:latin typeface="Calisto MT"/>
                <a:ea typeface="+mn-lt"/>
                <a:cs typeface="+mn-lt"/>
              </a:rPr>
              <a:t>camerei</a:t>
            </a:r>
            <a:r>
              <a:rPr lang="en-GB" dirty="0">
                <a:latin typeface="Calisto MT"/>
                <a:ea typeface="+mn-lt"/>
                <a:cs typeface="+mn-lt"/>
              </a:rPr>
              <a:t> web </a:t>
            </a:r>
            <a:r>
              <a:rPr lang="en-GB" dirty="0" err="1">
                <a:latin typeface="Calisto MT"/>
                <a:ea typeface="+mn-lt"/>
                <a:cs typeface="+mn-lt"/>
              </a:rPr>
              <a:t>într</a:t>
            </a:r>
            <a:r>
              <a:rPr lang="en-GB" dirty="0">
                <a:latin typeface="Calisto MT"/>
                <a:ea typeface="+mn-lt"/>
                <a:cs typeface="+mn-lt"/>
              </a:rPr>
              <a:t>-un </a:t>
            </a:r>
            <a:r>
              <a:rPr lang="en-GB" dirty="0" err="1">
                <a:latin typeface="Calisto MT"/>
                <a:ea typeface="+mn-lt"/>
                <a:cs typeface="+mn-lt"/>
              </a:rPr>
              <a:t>senzor</a:t>
            </a:r>
            <a:r>
              <a:rPr lang="en-GB" dirty="0">
                <a:latin typeface="Calisto MT"/>
                <a:ea typeface="+mn-lt"/>
                <a:cs typeface="+mn-lt"/>
              </a:rPr>
              <a:t> de </a:t>
            </a:r>
            <a:r>
              <a:rPr lang="en-GB" dirty="0" err="1">
                <a:latin typeface="Calisto MT"/>
                <a:ea typeface="+mn-lt"/>
                <a:cs typeface="+mn-lt"/>
              </a:rPr>
              <a:t>gesturi</a:t>
            </a:r>
            <a:r>
              <a:rPr lang="en-GB" dirty="0">
                <a:latin typeface="Calisto MT"/>
                <a:ea typeface="+mn-lt"/>
                <a:cs typeface="+mn-lt"/>
              </a:rPr>
              <a:t> </a:t>
            </a:r>
            <a:r>
              <a:rPr lang="en-GB" dirty="0" err="1">
                <a:latin typeface="Calisto MT"/>
                <a:ea typeface="+mn-lt"/>
                <a:cs typeface="+mn-lt"/>
              </a:rPr>
              <a:t>pentru</a:t>
            </a:r>
            <a:r>
              <a:rPr lang="en-GB" dirty="0">
                <a:latin typeface="Calisto MT"/>
                <a:ea typeface="+mn-lt"/>
                <a:cs typeface="+mn-lt"/>
              </a:rPr>
              <a:t> control media.</a:t>
            </a:r>
          </a:p>
          <a:p>
            <a:pPr>
              <a:spcBef>
                <a:spcPct val="0"/>
              </a:spcBef>
            </a:pPr>
            <a:r>
              <a:rPr lang="en-GB" b="1" dirty="0" err="1">
                <a:latin typeface="Calisto MT"/>
                <a:ea typeface="+mn-lt"/>
                <a:cs typeface="+mn-lt"/>
              </a:rPr>
              <a:t>Obiectiv</a:t>
            </a:r>
            <a:r>
              <a:rPr lang="en-GB" b="1" dirty="0">
                <a:latin typeface="Calisto MT"/>
                <a:ea typeface="+mn-lt"/>
                <a:cs typeface="+mn-lt"/>
              </a:rPr>
              <a:t>:</a:t>
            </a:r>
            <a:r>
              <a:rPr lang="en-GB" dirty="0">
                <a:latin typeface="Calisto MT"/>
                <a:ea typeface="+mn-lt"/>
                <a:cs typeface="+mn-lt"/>
              </a:rPr>
              <a:t> </a:t>
            </a:r>
            <a:r>
              <a:rPr lang="en-GB" dirty="0" err="1">
                <a:latin typeface="Calisto MT"/>
                <a:ea typeface="+mn-lt"/>
                <a:cs typeface="+mn-lt"/>
              </a:rPr>
              <a:t>Crearea</a:t>
            </a:r>
            <a:r>
              <a:rPr lang="en-GB" dirty="0">
                <a:latin typeface="Calisto MT"/>
                <a:ea typeface="+mn-lt"/>
                <a:cs typeface="+mn-lt"/>
              </a:rPr>
              <a:t> </a:t>
            </a:r>
            <a:r>
              <a:rPr lang="en-GB" dirty="0" err="1">
                <a:latin typeface="Calisto MT"/>
                <a:ea typeface="+mn-lt"/>
                <a:cs typeface="+mn-lt"/>
              </a:rPr>
              <a:t>unei</a:t>
            </a:r>
            <a:r>
              <a:rPr lang="en-GB" dirty="0">
                <a:latin typeface="Calisto MT"/>
                <a:ea typeface="+mn-lt"/>
                <a:cs typeface="+mn-lt"/>
              </a:rPr>
              <a:t> </a:t>
            </a:r>
            <a:r>
              <a:rPr lang="en-GB" dirty="0" err="1">
                <a:latin typeface="Calisto MT"/>
                <a:ea typeface="+mn-lt"/>
                <a:cs typeface="+mn-lt"/>
              </a:rPr>
              <a:t>interfețe</a:t>
            </a:r>
            <a:r>
              <a:rPr lang="en-GB" dirty="0">
                <a:latin typeface="Calisto MT"/>
                <a:ea typeface="+mn-lt"/>
                <a:cs typeface="+mn-lt"/>
              </a:rPr>
              <a:t> intuitive care </a:t>
            </a:r>
            <a:r>
              <a:rPr lang="en-GB" dirty="0" err="1">
                <a:latin typeface="Calisto MT"/>
                <a:ea typeface="+mn-lt"/>
                <a:cs typeface="+mn-lt"/>
              </a:rPr>
              <a:t>să</a:t>
            </a:r>
            <a:r>
              <a:rPr lang="en-GB" dirty="0">
                <a:latin typeface="Calisto MT"/>
                <a:ea typeface="+mn-lt"/>
                <a:cs typeface="+mn-lt"/>
              </a:rPr>
              <a:t> </a:t>
            </a:r>
            <a:r>
              <a:rPr lang="en-GB" dirty="0" err="1">
                <a:latin typeface="Calisto MT"/>
                <a:ea typeface="+mn-lt"/>
                <a:cs typeface="+mn-lt"/>
              </a:rPr>
              <a:t>completeze</a:t>
            </a:r>
            <a:r>
              <a:rPr lang="en-GB" dirty="0">
                <a:latin typeface="Calisto MT"/>
                <a:ea typeface="+mn-lt"/>
                <a:cs typeface="+mn-lt"/>
              </a:rPr>
              <a:t> </a:t>
            </a:r>
            <a:r>
              <a:rPr lang="en-GB" dirty="0" err="1">
                <a:latin typeface="Calisto MT"/>
                <a:ea typeface="+mn-lt"/>
                <a:cs typeface="+mn-lt"/>
              </a:rPr>
              <a:t>tastatura</a:t>
            </a:r>
            <a:r>
              <a:rPr lang="en-GB" dirty="0">
                <a:latin typeface="Calisto MT"/>
                <a:ea typeface="+mn-lt"/>
                <a:cs typeface="+mn-lt"/>
              </a:rPr>
              <a:t> </a:t>
            </a:r>
            <a:r>
              <a:rPr lang="en-GB" dirty="0" err="1">
                <a:latin typeface="Calisto MT"/>
                <a:ea typeface="+mn-lt"/>
                <a:cs typeface="+mn-lt"/>
              </a:rPr>
              <a:t>și</a:t>
            </a:r>
            <a:r>
              <a:rPr lang="en-GB" dirty="0">
                <a:latin typeface="Calisto MT"/>
                <a:ea typeface="+mn-lt"/>
                <a:cs typeface="+mn-lt"/>
              </a:rPr>
              <a:t> mouse-ul.</a:t>
            </a:r>
            <a:endParaRPr lang="en-GB">
              <a:latin typeface="Calisto M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DB4BEA-22D1-9BE0-1F06-BAFE567B5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435170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34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2ADE2-74D2-6C3C-EF9D-78ACF74AA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2109493"/>
            <a:ext cx="4265763" cy="144177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100" err="1">
                <a:ea typeface="+mj-lt"/>
                <a:cs typeface="+mj-lt"/>
              </a:rPr>
              <a:t>Procesarea</a:t>
            </a:r>
            <a:r>
              <a:rPr lang="en-GB" sz="3100">
                <a:ea typeface="+mj-lt"/>
                <a:cs typeface="+mj-lt"/>
              </a:rPr>
              <a:t> </a:t>
            </a:r>
            <a:r>
              <a:rPr lang="en-GB" sz="3100" err="1">
                <a:ea typeface="+mj-lt"/>
                <a:cs typeface="+mj-lt"/>
              </a:rPr>
              <a:t>Semnalului</a:t>
            </a:r>
            <a:r>
              <a:rPr lang="en-GB" sz="3100">
                <a:ea typeface="+mj-lt"/>
                <a:cs typeface="+mj-lt"/>
              </a:rPr>
              <a:t> (</a:t>
            </a:r>
            <a:r>
              <a:rPr lang="en-GB" sz="3100" err="1">
                <a:ea typeface="+mj-lt"/>
                <a:cs typeface="+mj-lt"/>
              </a:rPr>
              <a:t>Imaginea</a:t>
            </a:r>
            <a:r>
              <a:rPr lang="en-GB" sz="3100">
                <a:ea typeface="+mj-lt"/>
                <a:cs typeface="+mj-lt"/>
              </a:rPr>
              <a:t> ca </a:t>
            </a:r>
            <a:r>
              <a:rPr lang="en-GB" sz="3100" err="1">
                <a:ea typeface="+mj-lt"/>
                <a:cs typeface="+mj-lt"/>
              </a:rPr>
              <a:t>Semnal</a:t>
            </a:r>
            <a:r>
              <a:rPr lang="en-GB" sz="3100">
                <a:ea typeface="+mj-lt"/>
                <a:cs typeface="+mj-lt"/>
              </a:rPr>
              <a:t>)</a:t>
            </a:r>
            <a:endParaRPr lang="en-US" sz="310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75159-4D94-1EF4-CD09-35682135A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2200490"/>
            <a:ext cx="5269831" cy="344539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b="1" err="1">
                <a:ea typeface="+mn-lt"/>
                <a:cs typeface="+mn-lt"/>
              </a:rPr>
              <a:t>Filtrare</a:t>
            </a:r>
            <a:r>
              <a:rPr lang="en-GB" b="1" dirty="0">
                <a:ea typeface="+mn-lt"/>
                <a:cs typeface="+mn-lt"/>
              </a:rPr>
              <a:t>: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Aplicarea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>
                <a:ea typeface="+mn-lt"/>
                <a:cs typeface="+mn-lt"/>
              </a:rPr>
              <a:t>Gaussian Blur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pentru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eliminarea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zgomotului</a:t>
            </a:r>
            <a:r>
              <a:rPr lang="en-GB" dirty="0">
                <a:ea typeface="+mn-lt"/>
                <a:cs typeface="+mn-lt"/>
              </a:rPr>
              <a:t> de </a:t>
            </a:r>
            <a:r>
              <a:rPr lang="en-GB" err="1">
                <a:ea typeface="+mn-lt"/>
                <a:cs typeface="+mn-lt"/>
              </a:rPr>
              <a:t>înaltă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frecvență</a:t>
            </a:r>
            <a:r>
              <a:rPr lang="en-GB" dirty="0">
                <a:ea typeface="+mn-lt"/>
                <a:cs typeface="+mn-lt"/>
              </a:rPr>
              <a:t>.</a:t>
            </a:r>
          </a:p>
          <a:p>
            <a:r>
              <a:rPr lang="en-GB" b="1" err="1">
                <a:ea typeface="+mn-lt"/>
                <a:cs typeface="+mn-lt"/>
              </a:rPr>
              <a:t>Transformare</a:t>
            </a:r>
            <a:r>
              <a:rPr lang="en-GB" b="1" dirty="0">
                <a:ea typeface="+mn-lt"/>
                <a:cs typeface="+mn-lt"/>
              </a:rPr>
              <a:t>: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Trecerea</a:t>
            </a:r>
            <a:r>
              <a:rPr lang="en-GB" dirty="0">
                <a:ea typeface="+mn-lt"/>
                <a:cs typeface="+mn-lt"/>
              </a:rPr>
              <a:t> din BGR </a:t>
            </a:r>
            <a:r>
              <a:rPr lang="en-GB" err="1">
                <a:ea typeface="+mn-lt"/>
                <a:cs typeface="+mn-lt"/>
              </a:rPr>
              <a:t>în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>
                <a:ea typeface="+mn-lt"/>
                <a:cs typeface="+mn-lt"/>
              </a:rPr>
              <a:t>HSV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pentru</a:t>
            </a:r>
            <a:r>
              <a:rPr lang="en-GB" dirty="0">
                <a:ea typeface="+mn-lt"/>
                <a:cs typeface="+mn-lt"/>
              </a:rPr>
              <a:t> a </a:t>
            </a:r>
            <a:r>
              <a:rPr lang="en-GB" err="1">
                <a:ea typeface="+mn-lt"/>
                <a:cs typeface="+mn-lt"/>
              </a:rPr>
              <a:t>izola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nuanța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pielii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indiferent</a:t>
            </a:r>
            <a:r>
              <a:rPr lang="en-GB" dirty="0">
                <a:ea typeface="+mn-lt"/>
                <a:cs typeface="+mn-lt"/>
              </a:rPr>
              <a:t> de </a:t>
            </a:r>
            <a:r>
              <a:rPr lang="en-GB" err="1">
                <a:ea typeface="+mn-lt"/>
                <a:cs typeface="+mn-lt"/>
              </a:rPr>
              <a:t>lumină</a:t>
            </a:r>
            <a:r>
              <a:rPr lang="en-GB" dirty="0">
                <a:ea typeface="+mn-lt"/>
                <a:cs typeface="+mn-lt"/>
              </a:rPr>
              <a:t>.</a:t>
            </a:r>
          </a:p>
          <a:p>
            <a:r>
              <a:rPr lang="en-GB" b="1" dirty="0" err="1">
                <a:ea typeface="+mn-lt"/>
                <a:cs typeface="+mn-lt"/>
              </a:rPr>
              <a:t>Segmentare</a:t>
            </a:r>
            <a:r>
              <a:rPr lang="en-GB" b="1" dirty="0">
                <a:ea typeface="+mn-lt"/>
                <a:cs typeface="+mn-lt"/>
              </a:rPr>
              <a:t>: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Generarea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unei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măști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binare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pentru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separarea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mâinii</a:t>
            </a:r>
            <a:r>
              <a:rPr lang="en-GB" dirty="0">
                <a:ea typeface="+mn-lt"/>
                <a:cs typeface="+mn-lt"/>
              </a:rPr>
              <a:t> de fundal.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F0A063-5253-8DF5-3B7B-12FE09670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7643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392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08BF60-8462-7E27-BCF7-DA3333182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2109493"/>
            <a:ext cx="4265763" cy="144177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br>
              <a:rPr lang="en-GB" sz="3100" dirty="0">
                <a:ea typeface="+mj-lt"/>
                <a:cs typeface="+mj-lt"/>
              </a:rPr>
            </a:br>
            <a:r>
              <a:rPr lang="en-GB" sz="3100" dirty="0" err="1">
                <a:ea typeface="+mj-lt"/>
                <a:cs typeface="+mj-lt"/>
              </a:rPr>
              <a:t>Arhitectura</a:t>
            </a:r>
            <a:r>
              <a:rPr lang="en-GB" sz="3100" dirty="0">
                <a:ea typeface="+mj-lt"/>
                <a:cs typeface="+mj-lt"/>
              </a:rPr>
              <a:t> </a:t>
            </a:r>
            <a:r>
              <a:rPr lang="en-GB" sz="3100" dirty="0" err="1">
                <a:ea typeface="+mj-lt"/>
                <a:cs typeface="+mj-lt"/>
              </a:rPr>
              <a:t>si</a:t>
            </a:r>
            <a:r>
              <a:rPr lang="en-GB" sz="3100" dirty="0">
                <a:ea typeface="+mj-lt"/>
                <a:cs typeface="+mj-lt"/>
              </a:rPr>
              <a:t> </a:t>
            </a:r>
            <a:r>
              <a:rPr lang="en-GB" sz="3100" dirty="0" err="1">
                <a:ea typeface="+mj-lt"/>
                <a:cs typeface="+mj-lt"/>
              </a:rPr>
              <a:t>Geometria</a:t>
            </a:r>
            <a:r>
              <a:rPr lang="en-GB" sz="3100" dirty="0">
                <a:ea typeface="+mj-lt"/>
                <a:cs typeface="+mj-lt"/>
              </a:rPr>
              <a:t> </a:t>
            </a:r>
            <a:r>
              <a:rPr lang="en-GB" sz="3100" dirty="0" err="1">
                <a:ea typeface="+mj-lt"/>
                <a:cs typeface="+mj-lt"/>
              </a:rPr>
              <a:t>Detectiei</a:t>
            </a:r>
            <a:endParaRPr lang="en-US" sz="3100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3D954-2979-0796-CF95-BBDB1DA05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2200490"/>
            <a:ext cx="5269831" cy="344539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b="1" dirty="0" err="1">
                <a:ea typeface="+mn-lt"/>
                <a:cs typeface="+mn-lt"/>
              </a:rPr>
              <a:t>Centrul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Palmei</a:t>
            </a:r>
            <a:r>
              <a:rPr lang="en-GB" b="1" dirty="0">
                <a:ea typeface="+mn-lt"/>
                <a:cs typeface="+mn-lt"/>
              </a:rPr>
              <a:t>: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Determinat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prin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>
                <a:ea typeface="+mn-lt"/>
                <a:cs typeface="+mn-lt"/>
              </a:rPr>
              <a:t>Distance Transform</a:t>
            </a:r>
            <a:r>
              <a:rPr lang="en-GB" dirty="0">
                <a:ea typeface="+mn-lt"/>
                <a:cs typeface="+mn-lt"/>
              </a:rPr>
              <a:t> (</a:t>
            </a:r>
            <a:r>
              <a:rPr lang="en-GB" dirty="0" err="1">
                <a:ea typeface="+mn-lt"/>
                <a:cs typeface="+mn-lt"/>
              </a:rPr>
              <a:t>punctul</a:t>
            </a:r>
            <a:r>
              <a:rPr lang="en-GB" dirty="0">
                <a:ea typeface="+mn-lt"/>
                <a:cs typeface="+mn-lt"/>
              </a:rPr>
              <a:t> cel </a:t>
            </a:r>
            <a:r>
              <a:rPr lang="en-GB" dirty="0" err="1">
                <a:ea typeface="+mn-lt"/>
                <a:cs typeface="+mn-lt"/>
              </a:rPr>
              <a:t>mai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stabil</a:t>
            </a:r>
            <a:r>
              <a:rPr lang="en-GB" dirty="0">
                <a:ea typeface="+mn-lt"/>
                <a:cs typeface="+mn-lt"/>
              </a:rPr>
              <a:t>).</a:t>
            </a:r>
            <a:endParaRPr lang="en-GB" dirty="0"/>
          </a:p>
          <a:p>
            <a:r>
              <a:rPr lang="en-GB" b="1" dirty="0" err="1">
                <a:ea typeface="+mn-lt"/>
                <a:cs typeface="+mn-lt"/>
              </a:rPr>
              <a:t>Înveliș</a:t>
            </a:r>
            <a:r>
              <a:rPr lang="en-GB" b="1" dirty="0">
                <a:ea typeface="+mn-lt"/>
                <a:cs typeface="+mn-lt"/>
              </a:rPr>
              <a:t> Convex: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Utilizarea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>
                <a:ea typeface="+mn-lt"/>
                <a:cs typeface="+mn-lt"/>
              </a:rPr>
              <a:t>Convex Hull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pentru</a:t>
            </a:r>
            <a:r>
              <a:rPr lang="en-GB" dirty="0">
                <a:ea typeface="+mn-lt"/>
                <a:cs typeface="+mn-lt"/>
              </a:rPr>
              <a:t> a </a:t>
            </a:r>
            <a:r>
              <a:rPr lang="en-GB" dirty="0" err="1">
                <a:ea typeface="+mn-lt"/>
                <a:cs typeface="+mn-lt"/>
              </a:rPr>
              <a:t>defini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limitele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exterioare</a:t>
            </a:r>
            <a:r>
              <a:rPr lang="en-GB" dirty="0">
                <a:ea typeface="+mn-lt"/>
                <a:cs typeface="+mn-lt"/>
              </a:rPr>
              <a:t> ale </a:t>
            </a:r>
            <a:r>
              <a:rPr lang="en-GB" dirty="0" err="1">
                <a:ea typeface="+mn-lt"/>
                <a:cs typeface="+mn-lt"/>
              </a:rPr>
              <a:t>mâinii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 dirty="0"/>
          </a:p>
          <a:p>
            <a:r>
              <a:rPr lang="en-GB" b="1" dirty="0" err="1">
                <a:ea typeface="+mn-lt"/>
                <a:cs typeface="+mn-lt"/>
              </a:rPr>
              <a:t>Teorema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Cosinusului</a:t>
            </a:r>
            <a:r>
              <a:rPr lang="en-GB" b="1" dirty="0">
                <a:ea typeface="+mn-lt"/>
                <a:cs typeface="+mn-lt"/>
              </a:rPr>
              <a:t>: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Validarea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spațiilor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dintre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degete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prin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calcularea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unghiurilor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ascuțite</a:t>
            </a:r>
            <a:r>
              <a:rPr lang="en-GB" dirty="0">
                <a:ea typeface="+mn-lt"/>
                <a:cs typeface="+mn-lt"/>
              </a:rPr>
              <a:t> (&lt; 90°).</a:t>
            </a:r>
            <a:endParaRPr lang="en-GB" dirty="0"/>
          </a:p>
          <a:p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F0A063-5253-8DF5-3B7B-12FE09670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7643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003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6143C2-34B6-A964-4FAE-4C981DF75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1705460"/>
            <a:ext cx="4265763" cy="159318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 dirty="0" err="1"/>
              <a:t>ProvocAri</a:t>
            </a:r>
            <a:r>
              <a:rPr lang="en-GB" sz="3600" dirty="0"/>
              <a:t> Si </a:t>
            </a:r>
            <a:r>
              <a:rPr lang="en-GB" sz="3600" dirty="0" err="1"/>
              <a:t>SoluTii</a:t>
            </a:r>
            <a:r>
              <a:rPr lang="en-GB" sz="3600" dirty="0"/>
              <a:t> </a:t>
            </a:r>
            <a:r>
              <a:rPr lang="en-GB" sz="3600" dirty="0" err="1"/>
              <a:t>Matematice</a:t>
            </a:r>
            <a:endParaRPr lang="en-US" sz="3600" dirty="0" err="1"/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endParaRPr lang="en-US" sz="3600"/>
          </a:p>
          <a:p>
            <a:pPr>
              <a:lnSpc>
                <a:spcPct val="90000"/>
              </a:lnSpc>
            </a:pPr>
            <a:endParaRPr lang="en-GB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83F3C-5290-A61E-3940-9B464C4F9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1796458"/>
            <a:ext cx="5483190" cy="445745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b="1" dirty="0" err="1">
                <a:ea typeface="+mn-lt"/>
                <a:cs typeface="+mn-lt"/>
              </a:rPr>
              <a:t>Filtru</a:t>
            </a:r>
            <a:r>
              <a:rPr lang="en-GB" b="1" dirty="0">
                <a:ea typeface="+mn-lt"/>
                <a:cs typeface="+mn-lt"/>
              </a:rPr>
              <a:t> de 40px: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Previne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numărarea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multiplă</a:t>
            </a:r>
            <a:r>
              <a:rPr lang="en-GB" dirty="0">
                <a:ea typeface="+mn-lt"/>
                <a:cs typeface="+mn-lt"/>
              </a:rPr>
              <a:t> a </a:t>
            </a:r>
            <a:r>
              <a:rPr lang="en-GB" dirty="0" err="1">
                <a:ea typeface="+mn-lt"/>
                <a:cs typeface="+mn-lt"/>
              </a:rPr>
              <a:t>aceluiași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deget</a:t>
            </a:r>
            <a:r>
              <a:rPr lang="en-GB" dirty="0">
                <a:ea typeface="+mn-lt"/>
                <a:cs typeface="+mn-lt"/>
              </a:rPr>
              <a:t> (</a:t>
            </a:r>
            <a:r>
              <a:rPr lang="en-GB" dirty="0" err="1">
                <a:ea typeface="+mn-lt"/>
                <a:cs typeface="+mn-lt"/>
              </a:rPr>
              <a:t>deduplicare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spațială</a:t>
            </a:r>
            <a:r>
              <a:rPr lang="en-GB" dirty="0">
                <a:ea typeface="+mn-lt"/>
                <a:cs typeface="+mn-lt"/>
              </a:rPr>
              <a:t>).</a:t>
            </a:r>
            <a:endParaRPr lang="en-GB" dirty="0"/>
          </a:p>
          <a:p>
            <a:r>
              <a:rPr lang="en-GB" b="1" dirty="0" err="1">
                <a:ea typeface="+mn-lt"/>
                <a:cs typeface="+mn-lt"/>
              </a:rPr>
              <a:t>Limita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deget</a:t>
            </a:r>
            <a:r>
              <a:rPr lang="en-GB" b="1" dirty="0">
                <a:ea typeface="+mn-lt"/>
                <a:cs typeface="+mn-lt"/>
              </a:rPr>
              <a:t>: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Condiție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bazată</a:t>
            </a:r>
            <a:r>
              <a:rPr lang="en-GB" dirty="0">
                <a:ea typeface="+mn-lt"/>
                <a:cs typeface="+mn-lt"/>
              </a:rPr>
              <a:t> pe </a:t>
            </a:r>
            <a:r>
              <a:rPr lang="en-GB" dirty="0" err="1">
                <a:ea typeface="+mn-lt"/>
                <a:cs typeface="+mn-lt"/>
              </a:rPr>
              <a:t>distanța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euclidiană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față</a:t>
            </a:r>
            <a:r>
              <a:rPr lang="en-GB" dirty="0">
                <a:ea typeface="+mn-lt"/>
                <a:cs typeface="+mn-lt"/>
              </a:rPr>
              <a:t> de </a:t>
            </a:r>
            <a:r>
              <a:rPr lang="en-GB" dirty="0" err="1">
                <a:ea typeface="+mn-lt"/>
                <a:cs typeface="+mn-lt"/>
              </a:rPr>
              <a:t>centrul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palmei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Aria </a:t>
            </a:r>
            <a:r>
              <a:rPr lang="en-GB" b="1" dirty="0" err="1">
                <a:ea typeface="+mn-lt"/>
                <a:cs typeface="+mn-lt"/>
              </a:rPr>
              <a:t>Minimă</a:t>
            </a:r>
            <a:r>
              <a:rPr lang="en-GB" b="1" dirty="0">
                <a:ea typeface="+mn-lt"/>
                <a:cs typeface="+mn-lt"/>
              </a:rPr>
              <a:t>: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Filtrarea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obiectelor</a:t>
            </a:r>
            <a:r>
              <a:rPr lang="en-GB" dirty="0">
                <a:ea typeface="+mn-lt"/>
                <a:cs typeface="+mn-lt"/>
              </a:rPr>
              <a:t> sub 2000px </a:t>
            </a:r>
            <a:r>
              <a:rPr lang="en-GB" dirty="0" err="1">
                <a:ea typeface="+mn-lt"/>
                <a:cs typeface="+mn-lt"/>
              </a:rPr>
              <a:t>pentru</a:t>
            </a:r>
            <a:r>
              <a:rPr lang="en-GB" dirty="0">
                <a:ea typeface="+mn-lt"/>
                <a:cs typeface="+mn-lt"/>
              </a:rPr>
              <a:t> a </a:t>
            </a:r>
            <a:r>
              <a:rPr lang="en-GB" dirty="0" err="1">
                <a:ea typeface="+mn-lt"/>
                <a:cs typeface="+mn-lt"/>
              </a:rPr>
              <a:t>ignora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zgomotul</a:t>
            </a:r>
            <a:r>
              <a:rPr lang="en-GB" dirty="0">
                <a:ea typeface="+mn-lt"/>
                <a:cs typeface="+mn-lt"/>
              </a:rPr>
              <a:t> de fundal.</a:t>
            </a:r>
            <a:endParaRPr lang="en-GB" dirty="0"/>
          </a:p>
          <a:p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DB4BEA-22D1-9BE0-1F06-BAFE567B5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435170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036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3FE4F-9AE0-68AA-AD9C-47482A017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2109493"/>
            <a:ext cx="4265763" cy="1441776"/>
          </a:xfrm>
        </p:spPr>
        <p:txBody>
          <a:bodyPr anchor="t">
            <a:normAutofit/>
          </a:bodyPr>
          <a:lstStyle/>
          <a:p>
            <a:r>
              <a:rPr lang="en-GB" dirty="0" err="1">
                <a:ea typeface="+mj-lt"/>
                <a:cs typeface="+mj-lt"/>
              </a:rPr>
              <a:t>Stabilizarea</a:t>
            </a:r>
            <a:r>
              <a:rPr lang="en-GB" dirty="0">
                <a:ea typeface="+mj-lt"/>
                <a:cs typeface="+mj-lt"/>
              </a:rPr>
              <a:t> </a:t>
            </a:r>
            <a:r>
              <a:rPr lang="en-GB" dirty="0" err="1">
                <a:ea typeface="+mj-lt"/>
                <a:cs typeface="+mj-lt"/>
              </a:rPr>
              <a:t>Sistemului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BCA06-1A5E-8445-96A1-CD7C795E4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2200490"/>
            <a:ext cx="5269831" cy="344539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b="1" dirty="0" err="1">
                <a:ea typeface="+mn-lt"/>
                <a:cs typeface="+mn-lt"/>
              </a:rPr>
              <a:t>Problema</a:t>
            </a:r>
            <a:r>
              <a:rPr lang="en-GB" b="1" dirty="0">
                <a:ea typeface="+mn-lt"/>
                <a:cs typeface="+mn-lt"/>
              </a:rPr>
              <a:t>:</a:t>
            </a:r>
            <a:r>
              <a:rPr lang="en-GB" dirty="0">
                <a:ea typeface="+mn-lt"/>
                <a:cs typeface="+mn-lt"/>
              </a:rPr>
              <a:t> „Flickering-ul” </a:t>
            </a:r>
            <a:r>
              <a:rPr lang="en-GB" dirty="0" err="1">
                <a:ea typeface="+mn-lt"/>
                <a:cs typeface="+mn-lt"/>
              </a:rPr>
              <a:t>detecției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cauzat</a:t>
            </a:r>
            <a:r>
              <a:rPr lang="en-GB" dirty="0">
                <a:ea typeface="+mn-lt"/>
                <a:cs typeface="+mn-lt"/>
              </a:rPr>
              <a:t> de </a:t>
            </a:r>
            <a:r>
              <a:rPr lang="en-GB" dirty="0" err="1">
                <a:ea typeface="+mn-lt"/>
                <a:cs typeface="+mn-lt"/>
              </a:rPr>
              <a:t>umbre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sau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mișcare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 dirty="0"/>
          </a:p>
          <a:p>
            <a:r>
              <a:rPr lang="en-GB" b="1" dirty="0" err="1">
                <a:ea typeface="+mn-lt"/>
                <a:cs typeface="+mn-lt"/>
              </a:rPr>
              <a:t>Soluția</a:t>
            </a:r>
            <a:r>
              <a:rPr lang="en-GB" b="1" dirty="0">
                <a:ea typeface="+mn-lt"/>
                <a:cs typeface="+mn-lt"/>
              </a:rPr>
              <a:t>: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Implementarea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unei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cozi</a:t>
            </a:r>
            <a:r>
              <a:rPr lang="en-GB" b="1" dirty="0">
                <a:ea typeface="+mn-lt"/>
                <a:cs typeface="+mn-lt"/>
              </a:rPr>
              <a:t> de </a:t>
            </a:r>
            <a:r>
              <a:rPr lang="en-GB" b="1" dirty="0" err="1">
                <a:ea typeface="+mn-lt"/>
                <a:cs typeface="+mn-lt"/>
              </a:rPr>
              <a:t>stabilizare</a:t>
            </a:r>
            <a:r>
              <a:rPr lang="en-GB" dirty="0">
                <a:ea typeface="+mn-lt"/>
                <a:cs typeface="+mn-lt"/>
              </a:rPr>
              <a:t> (buffer de 15 cadre).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Logica: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Executarea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comenzii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bazată</a:t>
            </a:r>
            <a:r>
              <a:rPr lang="en-GB" dirty="0">
                <a:ea typeface="+mn-lt"/>
                <a:cs typeface="+mn-lt"/>
              </a:rPr>
              <a:t> pe </a:t>
            </a:r>
            <a:r>
              <a:rPr lang="en-GB" b="1" dirty="0" err="1">
                <a:ea typeface="+mn-lt"/>
                <a:cs typeface="+mn-lt"/>
              </a:rPr>
              <a:t>modul</a:t>
            </a:r>
            <a:r>
              <a:rPr lang="en-GB" b="1" dirty="0">
                <a:ea typeface="+mn-lt"/>
                <a:cs typeface="+mn-lt"/>
              </a:rPr>
              <a:t> statistic</a:t>
            </a:r>
            <a:r>
              <a:rPr lang="en-GB" dirty="0">
                <a:ea typeface="+mn-lt"/>
                <a:cs typeface="+mn-lt"/>
              </a:rPr>
              <a:t> al </a:t>
            </a:r>
            <a:r>
              <a:rPr lang="en-GB" dirty="0" err="1">
                <a:ea typeface="+mn-lt"/>
                <a:cs typeface="+mn-lt"/>
              </a:rPr>
              <a:t>valorilor</a:t>
            </a:r>
            <a:r>
              <a:rPr lang="en-GB" dirty="0">
                <a:ea typeface="+mn-lt"/>
                <a:cs typeface="+mn-lt"/>
              </a:rPr>
              <a:t> din </a:t>
            </a:r>
            <a:r>
              <a:rPr lang="en-GB" dirty="0" err="1">
                <a:ea typeface="+mn-lt"/>
                <a:cs typeface="+mn-lt"/>
              </a:rPr>
              <a:t>coadă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 dirty="0"/>
          </a:p>
          <a:p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F0A063-5253-8DF5-3B7B-12FE09670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7643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527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CF15F-85A8-34B2-BAE5-A01EDC42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2109493"/>
            <a:ext cx="4265763" cy="1441776"/>
          </a:xfrm>
        </p:spPr>
        <p:txBody>
          <a:bodyPr anchor="t">
            <a:normAutofit/>
          </a:bodyPr>
          <a:lstStyle/>
          <a:p>
            <a:r>
              <a:rPr lang="en-GB" dirty="0">
                <a:ea typeface="+mj-lt"/>
                <a:cs typeface="+mj-lt"/>
              </a:rPr>
              <a:t> </a:t>
            </a:r>
            <a:r>
              <a:rPr lang="en-GB" dirty="0" err="1">
                <a:ea typeface="+mj-lt"/>
                <a:cs typeface="+mj-lt"/>
              </a:rPr>
              <a:t>Mapare</a:t>
            </a:r>
            <a:r>
              <a:rPr lang="en-GB" dirty="0">
                <a:ea typeface="+mj-lt"/>
                <a:cs typeface="+mj-lt"/>
              </a:rPr>
              <a:t> </a:t>
            </a:r>
            <a:r>
              <a:rPr lang="en-GB" dirty="0" err="1">
                <a:ea typeface="+mj-lt"/>
                <a:cs typeface="+mj-lt"/>
              </a:rPr>
              <a:t>Comenzi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CC309-4E4F-D511-2B34-C8DB9D8D7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2200490"/>
            <a:ext cx="5269831" cy="344539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b="1" dirty="0">
                <a:ea typeface="+mn-lt"/>
                <a:cs typeface="+mn-lt"/>
              </a:rPr>
              <a:t>1 </a:t>
            </a:r>
            <a:r>
              <a:rPr lang="en-GB" b="1" dirty="0" err="1">
                <a:ea typeface="+mn-lt"/>
                <a:cs typeface="+mn-lt"/>
              </a:rPr>
              <a:t>Deget</a:t>
            </a:r>
            <a:r>
              <a:rPr lang="en-GB" b="1" dirty="0">
                <a:ea typeface="+mn-lt"/>
                <a:cs typeface="+mn-lt"/>
              </a:rPr>
              <a:t>:</a:t>
            </a:r>
            <a:r>
              <a:rPr lang="en-GB" dirty="0">
                <a:ea typeface="+mn-lt"/>
                <a:cs typeface="+mn-lt"/>
              </a:rPr>
              <a:t> Volume Down.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3 </a:t>
            </a:r>
            <a:r>
              <a:rPr lang="en-GB" b="1" dirty="0" err="1">
                <a:ea typeface="+mn-lt"/>
                <a:cs typeface="+mn-lt"/>
              </a:rPr>
              <a:t>Degete</a:t>
            </a:r>
            <a:r>
              <a:rPr lang="en-GB" b="1" dirty="0">
                <a:ea typeface="+mn-lt"/>
                <a:cs typeface="+mn-lt"/>
              </a:rPr>
              <a:t>:</a:t>
            </a:r>
            <a:r>
              <a:rPr lang="en-GB" dirty="0">
                <a:ea typeface="+mn-lt"/>
                <a:cs typeface="+mn-lt"/>
              </a:rPr>
              <a:t> Volume Up.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5 </a:t>
            </a:r>
            <a:r>
              <a:rPr lang="en-GB" b="1" dirty="0" err="1">
                <a:ea typeface="+mn-lt"/>
                <a:cs typeface="+mn-lt"/>
              </a:rPr>
              <a:t>Degete</a:t>
            </a:r>
            <a:r>
              <a:rPr lang="en-GB" b="1" dirty="0">
                <a:ea typeface="+mn-lt"/>
                <a:cs typeface="+mn-lt"/>
              </a:rPr>
              <a:t>:</a:t>
            </a:r>
            <a:r>
              <a:rPr lang="en-GB" dirty="0">
                <a:ea typeface="+mn-lt"/>
                <a:cs typeface="+mn-lt"/>
              </a:rPr>
              <a:t> Play/Pause.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Control: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Utilizarea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bibliotecii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PyAutoGUI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pentru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simularea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tastelor</a:t>
            </a:r>
            <a:r>
              <a:rPr lang="en-GB" dirty="0">
                <a:ea typeface="+mn-lt"/>
                <a:cs typeface="+mn-lt"/>
              </a:rPr>
              <a:t> media.</a:t>
            </a:r>
            <a:endParaRPr lang="en-GB" dirty="0"/>
          </a:p>
          <a:p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F0A063-5253-8DF5-3B7B-12FE09670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7643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391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ECC62D-8A12-25DF-FFD2-14A4455E7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Demo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DEMO1">
            <a:hlinkClick r:id="" action="ppaction://media"/>
            <a:extLst>
              <a:ext uri="{FF2B5EF4-FFF2-40B4-BE49-F238E27FC236}">
                <a16:creationId xmlns:a16="http://schemas.microsoft.com/office/drawing/2014/main" id="{2C809F05-3E5D-BB13-1664-8EA0B6DCBA9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25946" y="895595"/>
            <a:ext cx="9025652" cy="507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0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ChronicleVTI</vt:lpstr>
      <vt:lpstr>Sistem de Control prin Gesturi</vt:lpstr>
      <vt:lpstr> Nasterea ideii</vt:lpstr>
      <vt:lpstr>  MotivaTia și Contextul</vt:lpstr>
      <vt:lpstr>Procesarea Semnalului (Imaginea ca Semnal)</vt:lpstr>
      <vt:lpstr> Arhitectura si Geometria Detectiei</vt:lpstr>
      <vt:lpstr>ProvocAri Si SoluTii Matematice  </vt:lpstr>
      <vt:lpstr>Stabilizarea Sistemului</vt:lpstr>
      <vt:lpstr> Mapare Comenzi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151</cp:revision>
  <dcterms:created xsi:type="dcterms:W3CDTF">2026-02-03T11:38:23Z</dcterms:created>
  <dcterms:modified xsi:type="dcterms:W3CDTF">2026-02-03T12:48:00Z</dcterms:modified>
</cp:coreProperties>
</file>